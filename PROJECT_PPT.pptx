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Poppins"/>
              </a:rPr>
              <a:t>CAUSAL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16152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00000"/>
                </a:solidFill>
                <a:latin typeface="Poppins"/>
              </a:rPr>
              <a:t>for Business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8046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Poppins"/>
              </a:rPr>
              <a:t>Four independent retrieval architectures • evidence construction • benchmark-driven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88920"/>
            <a:ext cx="46634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Poppins"/>
              </a:rPr>
              <a:t>19,621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5935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Poppins"/>
              </a:rPr>
              <a:t>conversations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306324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Poppins"/>
              </a:rPr>
              <a:t>686,764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5935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Poppins"/>
              </a:rPr>
              <a:t>conversation 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22452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Poppins"/>
              </a:rPr>
              <a:t>independent RAG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Poppins"/>
              </a:rPr>
              <a:t>Shared benchmark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520440"/>
            <a:ext cx="4206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Poppins"/>
              </a:rPr>
              <a:t>quality • retrieval • grounding
latency • token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Poppins"/>
              </a:rPr>
              <a:t>Anonymous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0807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Poppi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Why causal RAG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Poppins"/>
              </a:rPr>
              <a:t>A causal rationale is rarely contained in one highly similar chunk.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5623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Poppins"/>
              </a:defRPr>
            </a:pPr>
            <a:r>
              <a:t>• The customer's motivation can appear several turns before the agent response.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Poppins"/>
              </a:defRPr>
            </a:pPr>
            <a:r>
              <a:t>• The intervention, explanation, and outcome may occur later in the same conversation.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Poppins"/>
              </a:defRPr>
            </a:pPr>
            <a:r>
              <a:t>• Global top-k retrieval can mix multiple conversations with similar business vocabulary.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Poppins"/>
              </a:defRPr>
            </a:pPr>
            <a:r>
              <a:t>• Evidence must preserve transcript identity, turn order, speaker, and causal completeness.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737360"/>
            <a:ext cx="48006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"/>
              </a:rPr>
              <a:t>PROJECT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560320"/>
            <a:ext cx="38862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Poppins"/>
              </a:rPr>
              <a:t>RAG is treated as an
EVIDENCE-CONSTRUCTION
problem, not only a
similarity-search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61772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oppins"/>
              </a:rPr>
              <a:t>Task 1: causal rationale extraction
Task 2: causal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Dataset and EDA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88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371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Poppins"/>
              </a:rPr>
              <a:t>19,621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Poppins"/>
              </a:rPr>
              <a:t>conversations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34440"/>
            <a:ext cx="2788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48132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Poppins"/>
              </a:rPr>
              <a:t>686,764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74519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Poppins"/>
              </a:rPr>
              <a:t>total turns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234440"/>
            <a:ext cx="2240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481328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Poppins"/>
              </a:rP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874519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Poppins"/>
              </a:rPr>
              <a:t>intents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24688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481328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Poppins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874519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Poppins"/>
              </a:rPr>
              <a:t>median turns</a:t>
            </a:r>
          </a:p>
        </p:txBody>
      </p:sp>
      <p:pic>
        <p:nvPicPr>
          <p:cNvPr id="16" name="Picture 15" descr="p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6040"/>
            <a:ext cx="5486400" cy="3246120"/>
          </a:xfrm>
          <a:prstGeom prst="rect">
            <a:avLst/>
          </a:prstGeom>
        </p:spPr>
      </p:pic>
      <p:pic>
        <p:nvPicPr>
          <p:cNvPr id="17" name="Picture 16" descr="p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06040"/>
            <a:ext cx="5440680" cy="2926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56235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Poppins"/>
              </a:rPr>
              <a:t>EDA 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5321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• Real conversational noise and non-uniform speaker labels
• Shared intents create lexical overlap across transcripts
• Conversation identity is essential for reliable causal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Four independent systems</a:t>
            </a:r>
          </a:p>
        </p:txBody>
      </p:sp>
      <p:pic>
        <p:nvPicPr>
          <p:cNvPr id="4" name="Picture 3" descr="p3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608076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Poppins"/>
              </a:rPr>
              <a:t>The systems share inputs and evaluation only; System 4 does NOT consume Systems 1–3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What each system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7860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"/>
              </a:rPr>
              <a:t>SYSTEM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194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Poppins"/>
              </a:rPr>
              <a:t>Dense Vector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2148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Embedding retrieval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Conversation/chunk indexing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Fast baseline for semantic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417320"/>
            <a:ext cx="257860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"/>
              </a:rPr>
              <a:t>SYSTEM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057400"/>
            <a:ext cx="2194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Poppins"/>
              </a:rPr>
              <a:t>Hybrid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971800"/>
            <a:ext cx="2148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Dense + BM25 retrieval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Candidate fusion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Tests semantic + lexical complementarity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417320"/>
            <a:ext cx="257860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"/>
              </a:rPr>
              <a:t>SYSTEM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057400"/>
            <a:ext cx="2194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Poppins"/>
              </a:rPr>
              <a:t>Vectorless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971800"/>
            <a:ext cx="2148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BM25 / lexical retrieval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No embeddings / vector DB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Fast, transparent, but ambiguity-sensitive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417320"/>
            <a:ext cx="257860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9176" y="1664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"/>
              </a:rPr>
              <a:t>SYSTEM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057400"/>
            <a:ext cx="2194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Poppins"/>
              </a:rPr>
              <a:t>Agentic / Quality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971800"/>
            <a:ext cx="2148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Dense + lexical candidates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Reranking + causal turn selection</a:t>
            </a:r>
          </a:p>
          <a:p>
            <a:pPr>
              <a:spcAft>
                <a:spcPts val="700"/>
              </a:spcAft>
              <a:defRPr sz="1300">
                <a:solidFill>
                  <a:srgbClr val="000000"/>
                </a:solidFill>
                <a:latin typeface="Poppins"/>
              </a:defRPr>
            </a:pPr>
            <a:r>
              <a:t>• Laya gates + grounding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Poppins"/>
              </a:rPr>
              <a:t>Laya is used as a lightweight decision/control layer — routing, evidence gates, and answer gates — not as a replacement for retrieval.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Benchmark suite and evaluation boundary</a:t>
            </a:r>
          </a:p>
        </p:txBody>
      </p:sp>
      <p:pic>
        <p:nvPicPr>
          <p:cNvPr id="4" name="Picture 3" descr="p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572000" cy="5166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23560" y="1417320"/>
            <a:ext cx="5577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89320" y="17373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Poppins"/>
              </a:rPr>
              <a:t>Same evaluation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Same benchmark questions and task definitions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Structured JSON outputs with evidence identifiers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Retrieval quality: conversation recall, evidence precision/recall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Grounding and cross-conversation contamination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Latency traces by pipeline stage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Token / context efficiency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Failure-mode and root-cause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5440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Poppins"/>
              </a:rPr>
              <a:t>Latest benchmark: 13-query run. Task 2 quantitative coverage remained incomplete in the available benchmark archive.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System 4: multi-stage quality pipeline</a:t>
            </a:r>
          </a:p>
        </p:txBody>
      </p:sp>
      <p:pic>
        <p:nvPicPr>
          <p:cNvPr id="4" name="Picture 3" descr="p4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572000" cy="5303520"/>
          </a:xfrm>
          <a:prstGeom prst="rect">
            <a:avLst/>
          </a:prstGeom>
        </p:spPr>
      </p:pic>
      <p:pic>
        <p:nvPicPr>
          <p:cNvPr id="5" name="Picture 4" descr="p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17320"/>
            <a:ext cx="5897880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23560" y="4800600"/>
            <a:ext cx="56692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501091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LATEST 13-QUERY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534924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Poppins"/>
              </a:rPr>
              <a:t>Conversation recall 0.85  •  Evidence precision 0.85
Evidence recall 0.08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58978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Poppins"/>
              </a:rPr>
              <a:t>Interpretation: candidate selection became precise, but the pipeline still missed causal evidence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What the latest results show</a:t>
            </a:r>
          </a:p>
        </p:txBody>
      </p:sp>
      <p:pic>
        <p:nvPicPr>
          <p:cNvPr id="4" name="Picture 3" descr="p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394960" cy="2971800"/>
          </a:xfrm>
          <a:prstGeom prst="rect">
            <a:avLst/>
          </a:prstGeom>
        </p:spPr>
      </p:pic>
      <p:pic>
        <p:nvPicPr>
          <p:cNvPr id="5" name="Picture 4" descr="p5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94960" cy="2971800"/>
          </a:xfrm>
          <a:prstGeom prst="rect">
            <a:avLst/>
          </a:prstGeom>
        </p:spPr>
      </p:pic>
      <p:pic>
        <p:nvPicPr>
          <p:cNvPr id="6" name="Picture 5" descr="p5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80560"/>
            <a:ext cx="5394960" cy="1828800"/>
          </a:xfrm>
          <a:prstGeom prst="rect">
            <a:avLst/>
          </a:prstGeom>
        </p:spPr>
      </p:pic>
      <p:pic>
        <p:nvPicPr>
          <p:cNvPr id="7" name="Picture 6" descr="p4_im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480560"/>
            <a:ext cx="539496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Poppins"/>
              </a:rPr>
              <a:t>Recall improved for System 4 across iterations, while its evidence recall remains the main bottleneck.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Failure modes → likely causes →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502920"/>
          </a:xfrm>
          <a:prstGeom prst="roundRect">
            <a:avLst/>
          </a:prstGeom>
          <a:solidFill>
            <a:srgbClr val="000000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35607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Observed difficulty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25880"/>
            <a:ext cx="3749039" cy="502920"/>
          </a:xfrm>
          <a:prstGeom prst="roundRect">
            <a:avLst/>
          </a:prstGeom>
          <a:solidFill>
            <a:srgbClr val="000000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59" y="1435607"/>
            <a:ext cx="35661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Likely reason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794760" cy="502920"/>
          </a:xfrm>
          <a:prstGeom prst="roundRect">
            <a:avLst/>
          </a:prstGeom>
          <a:solidFill>
            <a:srgbClr val="000000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35607"/>
            <a:ext cx="361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Next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11095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Cross-conversation mixing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28800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911095"/>
            <a:ext cx="35661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Shared business vocabulary; weak transcript grouping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828800"/>
            <a:ext cx="3794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911095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Conversation-level retrieval + transcript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87168"/>
            <a:ext cx="3657600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569463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Weak causal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487168"/>
            <a:ext cx="3749039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2569463"/>
            <a:ext cx="35661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Filler / isolated turns can rank highly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487168"/>
            <a:ext cx="3794760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569463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Neighbor expansion + causal turn selection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45536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2783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Vectorless ambiguity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145536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59" y="3227832"/>
            <a:ext cx="35661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Common terms have weak entity discrimination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145536"/>
            <a:ext cx="3794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3227832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Field-weighted BM25 + exact entity/phrase boosts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03904"/>
            <a:ext cx="3657600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862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LLM latency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803904"/>
            <a:ext cx="3749039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59" y="3886200"/>
            <a:ext cx="35661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Generation dominates end-to-end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803904"/>
            <a:ext cx="3794760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388620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Smaller local model / caching / shorter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62272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544568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Task instability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4462272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59" y="4544568"/>
            <a:ext cx="35661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Interactive prompts exposed contract edge cases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4462272"/>
            <a:ext cx="3794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45445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Stricter schema + task-specific evaluation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20640"/>
            <a:ext cx="3657600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202936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System 4 timing anomaly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5120640"/>
            <a:ext cx="3749039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59" y="5202936"/>
            <a:ext cx="35661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Deterministic fallback bypassed LLM generation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9560" y="5120640"/>
            <a:ext cx="3794760" cy="658368"/>
          </a:xfrm>
          <a:prstGeom prst="roundRect">
            <a:avLst/>
          </a:prstGeom>
          <a:solidFill>
            <a:srgbClr val="E8E4D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5202936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Poppins"/>
              </a:rPr>
              <a:t>Benchmark full generation separately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98932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"/>
              </a:rPr>
              <a:t>Core lesson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92531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Poppins"/>
              </a:rPr>
              <a:t>Retrieval quality is necessary, but causal completeness and transcript identity determine whether the final answer is trustworthy.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INTER IIT 15.0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Poppins"/>
              </a:rPr>
              <a:t>What remains to be tried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"/>
              </a:rPr>
              <a:t>Improve System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0759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Poppins"/>
              </a:rPr>
              <a:t>Field-weighted BM25, phrase/entity boosts, metadata filters, speaker-aware scoring.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Poppi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86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"/>
              </a:rPr>
              <a:t>Fix evidence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6771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Poppins"/>
              </a:rPr>
              <a:t>Retrieve at conversation level, expand neighboring turns, then select causal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Poppi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46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"/>
              </a:rPr>
              <a:t>Benchmark the real LLM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2783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Poppins"/>
              </a:rPr>
              <a:t>Do not compare System 4's deterministic fallback latency with full generation latency.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Poppin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06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"/>
              </a:rPr>
              <a:t>Complete Task 2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879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Poppins"/>
              </a:rPr>
              <a:t>Add a stable quantitative benchmark set and compare synthesis quality + latency.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Poppin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"/>
              </a:rPr>
              <a:t>Optimize local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4807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Poppins"/>
              </a:rPr>
              <a:t>Test smaller Ollama / local models, caching, context compression, and constrained JSON.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722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Poppins"/>
              </a:rPr>
              <a:t>Time-constrained experiments were kept explicit rather than presented as completed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Poppins"/>
              </a:rPr>
              <a:t>ANONYMOUS TECHNICAL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2881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Poppin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Poppins"/>
              </a:rPr>
              <a:t>Causal RAG is primarily
a problem of evidence
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143000"/>
            <a:ext cx="480060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0" y="160020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Dense retrieval provides semantic recall but can lose conversation identity.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Hybrid retrieval combines complementary signals but increases pipeline complexity.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Vectorless RAG is efficient and transparent, but lexical ambiguity is a major risk.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System 4 improved candidate precision and reduced contamination, yet evidence recall remains the key gap.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Poppins"/>
              </a:defRPr>
            </a:pPr>
            <a:r>
              <a:t>• A common benchmark boundary makes the four architectures comparable and experimentally independent.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  <a:latin typeface="Poppins"/>
              </a:rPr>
              <a:t>The next iteration should optimize evidence completeness first, then generation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26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ANONYMOUS •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1264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